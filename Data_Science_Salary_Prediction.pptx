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7" r:id="rId7"/>
    <p:sldId id="265" r:id="rId8"/>
    <p:sldId id="269" r:id="rId9"/>
    <p:sldId id="272" r:id="rId10"/>
    <p:sldId id="271" r:id="rId11"/>
    <p:sldId id="273" r:id="rId12"/>
    <p:sldId id="261" r:id="rId13"/>
    <p:sldId id="266" r:id="rId14"/>
    <p:sldId id="262" r:id="rId15"/>
    <p:sldId id="263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ruti5070/Laptop-Price-Predictio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IN" dirty="0"/>
              <a:t>Data Science Job Salaries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38948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Shruti Maruti Pawar</a:t>
            </a:r>
          </a:p>
          <a:p>
            <a:r>
              <a:rPr dirty="0"/>
              <a:t>Domain: Data </a:t>
            </a:r>
            <a:r>
              <a:rPr lang="en-US" dirty="0"/>
              <a:t>Science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Objective: </a:t>
            </a:r>
            <a:r>
              <a:rPr lang="en-US" dirty="0"/>
              <a:t>Uncover salary trends, determine major salary drivers, and develop a model to accurately predict data science salaries.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4EE8-F35F-FED2-0D00-047A5153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274638"/>
            <a:ext cx="7860890" cy="1003556"/>
          </a:xfrm>
        </p:spPr>
        <p:txBody>
          <a:bodyPr>
            <a:normAutofit/>
          </a:bodyPr>
          <a:lstStyle/>
          <a:p>
            <a:r>
              <a:rPr lang="en-IN" sz="3600" dirty="0"/>
              <a:t>Model Prediction Accuracy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FBAD616-92C8-5062-80D0-F8152CB0A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63370"/>
              </p:ext>
            </p:extLst>
          </p:nvPr>
        </p:nvGraphicFramePr>
        <p:xfrm>
          <a:off x="914400" y="1710813"/>
          <a:ext cx="7502012" cy="351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006">
                  <a:extLst>
                    <a:ext uri="{9D8B030D-6E8A-4147-A177-3AD203B41FA5}">
                      <a16:colId xmlns:a16="http://schemas.microsoft.com/office/drawing/2014/main" val="715578333"/>
                    </a:ext>
                  </a:extLst>
                </a:gridCol>
                <a:gridCol w="3751006">
                  <a:extLst>
                    <a:ext uri="{9D8B030D-6E8A-4147-A177-3AD203B41FA5}">
                      <a16:colId xmlns:a16="http://schemas.microsoft.com/office/drawing/2014/main" val="32671604"/>
                    </a:ext>
                  </a:extLst>
                </a:gridCol>
              </a:tblGrid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02665"/>
                  </a:ext>
                </a:extLst>
              </a:tr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852988"/>
                  </a:ext>
                </a:extLst>
              </a:tr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Libraries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Pandas, NumPy, Matplotlib,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seaborn, matplotlib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55664"/>
                  </a:ext>
                </a:extLst>
              </a:tr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 Regressor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345622"/>
                  </a:ext>
                </a:extLst>
              </a:tr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Code, </a:t>
                      </a:r>
                      <a:r>
                        <a:rPr lang="en-IN" dirty="0" err="1"/>
                        <a:t>Jupyter</a:t>
                      </a:r>
                      <a:r>
                        <a:rPr lang="en-IN" dirty="0"/>
                        <a:t>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553219"/>
                  </a:ext>
                </a:extLst>
              </a:tr>
              <a:tr h="574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67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90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contains data science job salary information.</a:t>
            </a:r>
          </a:p>
          <a:p>
            <a:r>
              <a:rPr lang="en-US" dirty="0"/>
              <a:t>Features: Job Title, Experience Level, Employment Type, Company Location, Company Size, Remote Ratio, etc.</a:t>
            </a:r>
          </a:p>
          <a:p>
            <a:r>
              <a:rPr lang="en-US" dirty="0"/>
              <a:t>Target Variable: Salary (in USD)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Handling Missing Values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Label Encoding / Categorical Encoding</a:t>
            </a:r>
          </a:p>
          <a:p>
            <a:r>
              <a:rPr lang="en-US" dirty="0"/>
              <a:t>Feature Selection</a:t>
            </a:r>
          </a:p>
          <a:p>
            <a:r>
              <a:rPr lang="en-IN" dirty="0"/>
              <a:t>Train-Test Split</a:t>
            </a:r>
          </a:p>
          <a:p>
            <a:r>
              <a:rPr lang="en-IN" dirty="0"/>
              <a:t>Target Transformation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6CE1-EDD1-6055-5D6A-26BA6E43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B4E6-40A5-FA5F-1320-9A084CA34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274638"/>
            <a:ext cx="7860890" cy="1003556"/>
          </a:xfrm>
        </p:spPr>
        <p:txBody>
          <a:bodyPr>
            <a:normAutofit/>
          </a:bodyPr>
          <a:lstStyle/>
          <a:p>
            <a:r>
              <a:rPr lang="en-US" sz="3600" dirty="0"/>
              <a:t>Salary vs Experience Level</a:t>
            </a:r>
            <a:endParaRPr lang="en-IN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BE3331-31D7-0AB1-27C6-28D22D7D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774" y="1274691"/>
            <a:ext cx="6756452" cy="54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2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803B-B2F2-D8CD-1C12-693DDC9E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0983-F707-2FAA-54B8-2D28F5C8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0" y="274638"/>
            <a:ext cx="8028039" cy="885568"/>
          </a:xfrm>
        </p:spPr>
        <p:txBody>
          <a:bodyPr>
            <a:noAutofit/>
          </a:bodyPr>
          <a:lstStyle/>
          <a:p>
            <a:r>
              <a:rPr lang="en-US" sz="3200" dirty="0"/>
              <a:t>Salary vs Company Size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3AE1A-F8BF-9E86-A72A-2A4B0BC7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61" y="1160207"/>
            <a:ext cx="6747527" cy="54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771B-691A-CD2F-04AD-7AD80D4F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28E5-5C92-E4D2-E07F-CB1C8F58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0" y="274638"/>
            <a:ext cx="8028039" cy="885568"/>
          </a:xfrm>
        </p:spPr>
        <p:txBody>
          <a:bodyPr>
            <a:noAutofit/>
          </a:bodyPr>
          <a:lstStyle/>
          <a:p>
            <a:r>
              <a:rPr lang="en-US" sz="3200" dirty="0"/>
              <a:t>Salary Distribution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0CD18-7242-4E4F-44EF-04CD77DE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37" y="1022477"/>
            <a:ext cx="6891526" cy="556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86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F582-9553-475C-02F5-60819B02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7128-CCD7-254E-AC54-BACAE0E4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0" y="274638"/>
            <a:ext cx="8028039" cy="885568"/>
          </a:xfrm>
        </p:spPr>
        <p:txBody>
          <a:bodyPr>
            <a:noAutofit/>
          </a:bodyPr>
          <a:lstStyle/>
          <a:p>
            <a:r>
              <a:rPr lang="en-US" sz="3200" dirty="0"/>
              <a:t>Feature correlation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AAB50-7DDD-1715-FF48-75134B15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96" y="1104337"/>
            <a:ext cx="6588606" cy="575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05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043-DFA5-B523-264B-D267F57E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4DF1-5210-B43E-4576-470CD921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0" y="274638"/>
            <a:ext cx="8028039" cy="885568"/>
          </a:xfrm>
        </p:spPr>
        <p:txBody>
          <a:bodyPr>
            <a:noAutofit/>
          </a:bodyPr>
          <a:lstStyle/>
          <a:p>
            <a:r>
              <a:rPr lang="en-US" sz="3200" dirty="0"/>
              <a:t>Actual vs Predicted Salary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915C4-CA48-A79A-51DB-11D1C0D2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48" y="978909"/>
            <a:ext cx="7100304" cy="560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4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2C7A-D686-DC38-B398-F5B42045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B126-638C-680E-B588-EF23C766C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80" y="274638"/>
            <a:ext cx="8028039" cy="885568"/>
          </a:xfrm>
        </p:spPr>
        <p:txBody>
          <a:bodyPr>
            <a:noAutofit/>
          </a:bodyPr>
          <a:lstStyle/>
          <a:p>
            <a:r>
              <a:rPr lang="en-US" sz="3200" dirty="0"/>
              <a:t>Top Features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F5A76-B28C-CAB2-259E-6FAFD756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7" y="1160206"/>
            <a:ext cx="8192643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R² Scor</a:t>
            </a:r>
            <a:r>
              <a:rPr lang="en-US" dirty="0"/>
              <a:t>e</a:t>
            </a:r>
          </a:p>
          <a:p>
            <a:r>
              <a:rPr lang="en-IN" dirty="0"/>
              <a:t>Train-Test Split Evaluation</a:t>
            </a:r>
          </a:p>
          <a:p>
            <a:r>
              <a:rPr lang="en-IN" dirty="0"/>
              <a:t>Visual Evaluation</a:t>
            </a:r>
          </a:p>
          <a:p>
            <a:r>
              <a:rPr lang="en-IN" dirty="0"/>
              <a:t>Log Transformation Effect</a:t>
            </a:r>
          </a:p>
          <a:p>
            <a:r>
              <a:rPr lang="en-IN" dirty="0"/>
              <a:t>Encoding Evaluation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B372-DEE6-48D5-5B64-F62BD1C0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Insights from Graphs and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C58BA-B675-7C47-7DDA-CB2B76EF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9090"/>
          </a:xfrm>
        </p:spPr>
        <p:txBody>
          <a:bodyPr>
            <a:noAutofit/>
          </a:bodyPr>
          <a:lstStyle/>
          <a:p>
            <a:r>
              <a:rPr lang="en-US" sz="2800" dirty="0"/>
              <a:t>Experience level is the </a:t>
            </a:r>
            <a:r>
              <a:rPr lang="en-US" sz="2800" b="1" dirty="0"/>
              <a:t>strongest factor</a:t>
            </a:r>
            <a:r>
              <a:rPr lang="en-US" sz="2800" dirty="0"/>
              <a:t> affecting salary</a:t>
            </a:r>
          </a:p>
          <a:p>
            <a:r>
              <a:rPr lang="en-US" sz="2800" dirty="0"/>
              <a:t>Larger companies generally offer </a:t>
            </a:r>
            <a:r>
              <a:rPr lang="en-US" sz="2800" b="1" dirty="0"/>
              <a:t>higher salaries</a:t>
            </a:r>
          </a:p>
          <a:p>
            <a:r>
              <a:rPr lang="en-US" sz="2800" dirty="0"/>
              <a:t>Job role combined with location strongly influences salary</a:t>
            </a:r>
          </a:p>
          <a:p>
            <a:r>
              <a:rPr lang="en-IN" sz="2800" dirty="0"/>
              <a:t>Location differences create </a:t>
            </a:r>
            <a:r>
              <a:rPr lang="en-IN" sz="2800" b="1" dirty="0"/>
              <a:t>significant salary variation</a:t>
            </a:r>
          </a:p>
          <a:p>
            <a:r>
              <a:rPr lang="en-US" sz="2800" dirty="0"/>
              <a:t>Target encoding helped improve model performance</a:t>
            </a:r>
          </a:p>
          <a:p>
            <a:r>
              <a:rPr lang="en-US" sz="2800" dirty="0" err="1"/>
              <a:t>XGBoost</a:t>
            </a:r>
            <a:r>
              <a:rPr lang="en-US" sz="2800" dirty="0"/>
              <a:t> captured complex patterns in salary prediction effectively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73882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R² Score: 0.9</a:t>
            </a:r>
            <a:r>
              <a:rPr lang="en-US" dirty="0"/>
              <a:t>541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machine learning model to predict job salaries</a:t>
            </a:r>
          </a:p>
          <a:p>
            <a:r>
              <a:rPr lang="en-US" dirty="0" err="1"/>
              <a:t>XGBoost</a:t>
            </a:r>
            <a:r>
              <a:rPr lang="en-US" dirty="0"/>
              <a:t> model gave good prediction results</a:t>
            </a:r>
          </a:p>
          <a:p>
            <a:r>
              <a:rPr lang="en-US" dirty="0"/>
              <a:t>Experience, location, and company size affect salary most</a:t>
            </a:r>
          </a:p>
          <a:p>
            <a:r>
              <a:rPr lang="en-US" dirty="0"/>
              <a:t>Feature engineering improved model performance</a:t>
            </a:r>
          </a:p>
          <a:p>
            <a:r>
              <a:rPr lang="en-US" dirty="0"/>
              <a:t>Model works well on unseen data</a:t>
            </a:r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9F1D-401A-161E-C522-465992EB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3" y="2673709"/>
            <a:ext cx="8229600" cy="1143000"/>
          </a:xfrm>
        </p:spPr>
        <p:txBody>
          <a:bodyPr/>
          <a:lstStyle/>
          <a:p>
            <a:r>
              <a:rPr lang="en-IN" dirty="0">
                <a:hlinkClick r:id="rId2"/>
              </a:rPr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20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256</Words>
  <Application>Microsoft Office PowerPoint</Application>
  <PresentationFormat>On-screen Show (4:3)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Data Science Job Salaries</vt:lpstr>
      <vt:lpstr>Problem Statement</vt:lpstr>
      <vt:lpstr>Model Prediction Accuracy</vt:lpstr>
      <vt:lpstr>Dataset Overview</vt:lpstr>
      <vt:lpstr>Data Preprocessing</vt:lpstr>
      <vt:lpstr>Salary vs Experience Level</vt:lpstr>
      <vt:lpstr>Salary vs Company Size</vt:lpstr>
      <vt:lpstr>Salary Distribution</vt:lpstr>
      <vt:lpstr>Feature correlation</vt:lpstr>
      <vt:lpstr>Actual vs Predicted Salary</vt:lpstr>
      <vt:lpstr>Top Features</vt:lpstr>
      <vt:lpstr>Model Evaluation</vt:lpstr>
      <vt:lpstr>Key Insights from Graphs and Model</vt:lpstr>
      <vt:lpstr>Final Results</vt:lpstr>
      <vt:lpstr>Conclusion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Shruti Pawar</cp:lastModifiedBy>
  <cp:revision>24</cp:revision>
  <dcterms:created xsi:type="dcterms:W3CDTF">2013-01-27T09:14:16Z</dcterms:created>
  <dcterms:modified xsi:type="dcterms:W3CDTF">2026-03-19T16:07:55Z</dcterms:modified>
  <cp:category/>
</cp:coreProperties>
</file>